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1645920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KERANGKA ANALISA 5W + 1H • ENTERPRISE ERP SYSTEM</a:t>
            </a:r>
          </a:p>
          <a:p>
            <a:pPr>
              <a:spcAft>
                <a:spcPts val="1000"/>
              </a:spcAft>
              <a:defRPr sz="4600" b="1">
                <a:solidFill>
                  <a:srgbClr val="FFFFFF"/>
                </a:solidFill>
                <a:latin typeface="Segoe UI"/>
              </a:defRPr>
            </a:pPr>
            <a:r>
              <a:t>ARTALEDGER</a:t>
            </a:r>
          </a:p>
          <a:p>
            <a:pPr>
              <a:defRPr sz="1800">
                <a:solidFill>
                  <a:srgbClr val="94A3B8"/>
                </a:solidFill>
                <a:latin typeface="Segoe UI"/>
              </a:defRPr>
            </a:pPr>
            <a:r>
              <a:t>Presentasi Komprehensif Sistem Informasi Akuntansi &amp; Tata Kelola Keuangan Korporat Modern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93776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74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METODOLOGI ANALISA</a:t>
            </a:r>
          </a:p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Pendekatan Terstruktur 5W + 1H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93776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5074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STATUS KESIAPAN</a:t>
            </a:r>
          </a:p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🟢 Production-Ready (201 Tests Passed)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937760"/>
            <a:ext cx="3383280" cy="1188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50749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KEPATUHAN STANDAR</a:t>
            </a:r>
          </a:p>
          <a:p>
            <a:pPr>
              <a:defRPr sz="1150">
                <a:solidFill>
                  <a:srgbClr val="FFFFFF"/>
                </a:solidFill>
                <a:latin typeface="Segoe UI"/>
              </a:defRPr>
            </a:pPr>
            <a:r>
              <a:t>PSAK Compliant, Double-Entry &amp; Audit Locking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KERANGKA KERJA 5W + 1H</a:t>
            </a:r>
          </a:p>
          <a:p>
            <a:pPr>
              <a:defRPr sz="2300" b="1">
                <a:solidFill>
                  <a:srgbClr val="1E293B"/>
                </a:solidFill>
                <a:latin typeface="Segoe UI"/>
              </a:defRPr>
            </a:pPr>
            <a:r>
              <a:t>Matriks Eksekutif Analisis Sistem ArtaLedger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6366F1"/>
                </a:solidFill>
                <a:latin typeface="Segoe UI"/>
              </a:defRPr>
            </a:pPr>
            <a:r>
              <a:t>WHAT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Apa itu ArtaLedger?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Sistem Akuntansi ERP modern berstandar PSAK dengan Core Double-Entry presisi tinggi, modul rekonsiliasi perbankan, umur piutang/hutang, dan manajemen aset tetap.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EF4444"/>
                </a:solidFill>
                <a:latin typeface="Segoe UI"/>
              </a:defRPr>
            </a:pPr>
            <a:r>
              <a:t>WHY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Mengapa Sangat Dibutuhkan?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Mengeliminasi risiko human error penjurnalan, deviasi format kertas kerja auditor, keterlambatan rekonsiliasi manual perbankan, dan ancaman manipulasi periode.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3736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1920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WHO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Siapa Pemangku Kepentingannya?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Jajaran Direksi &amp; C-Level (visibilitas KPI finansial), Tim Finansial/Akuntan (otomasi pembukuan &amp; audit), serta Tim IT (keamanan, stabilitas, dan RBAC).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F59E0B"/>
                </a:solidFill>
                <a:latin typeface="Segoe UI"/>
              </a:defRPr>
            </a:pPr>
            <a:r>
              <a:t>WHERE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Di Mana Diimplementasikan?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Dideploy di seluruh unit operasional korporat (Kantor Pusat &amp; Unit Bisnis Cabang) via antarmuka web modern reaktif dan server cloud/on-premise aman.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402336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4206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6366F1"/>
                </a:solidFill>
                <a:latin typeface="Segoe UI"/>
              </a:defRPr>
            </a:pPr>
            <a:r>
              <a:t>WHEN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Kapan Roadmap &amp; Tahapannya?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Fondasi akuntansi siap produksi saat ini (2026), dilanjutkan roadmap 4 fase strategis sepanjang 2026-2027 menuju Ekosistem ERP Bisnis Lengkap.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80" y="4023360"/>
            <a:ext cx="347472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4206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10B981"/>
                </a:solidFill>
                <a:latin typeface="Segoe UI"/>
              </a:defRPr>
            </a:pPr>
            <a:r>
              <a:t>HOW</a:t>
            </a:r>
          </a:p>
          <a:p>
            <a:pPr>
              <a:spcAft>
                <a:spcPts val="400"/>
              </a:spcAft>
              <a:defRPr sz="1100" b="1">
                <a:solidFill>
                  <a:srgbClr val="1E293B"/>
                </a:solidFill>
                <a:latin typeface="Segoe UI"/>
              </a:defRPr>
            </a:pPr>
            <a:r>
              <a:t>Bagaimana Cara Kerjanya?</a:t>
            </a:r>
          </a:p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r>
              <a:t>Menggunakan arsitektur ACID Transactions, balancing |Δ| &lt; 0.01, formula dinamis 12 KPI, dan jaminan mutu 201 pengujian otomatis Pest PHP (100% Passed).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DIMENSI 1: WHAT (ENTITAS SISTEM)</a:t>
            </a:r>
          </a:p>
          <a:p>
            <a:pPr>
              <a:defRPr sz="2300" b="1">
                <a:solidFill>
                  <a:srgbClr val="1E293B"/>
                </a:solidFill>
                <a:latin typeface="Segoe UI"/>
              </a:defRPr>
            </a:pPr>
            <a:r>
              <a:t>WHAT: Apa Saja Modul Fungsional &amp; Fondasi ArtaLedger?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1. Dasbor Finansial Eksekutif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12 KPI Baku (EBITDA, NPM, DER, SGA/COGS to Sales, ITO, DSI), ApexCharts tren 12 bulan interaktif, tabel transaksi bernilai signifikan, dan sinkronisasi filter periode global.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659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2. Core Pelaporan Kepatuhan PSAK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Neraca Lajur 10-Kolom Strict Normal Balance Placement (Excel Parity 100%), Laba Rugi Komprehensif (OCI PSAK 24), Arus Kas Langsung dinamis, dan Saldo Awal terkunci.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519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3. Rekonsiliasi Bank Otomatis (CMS BRI)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Ekstraksi otomatis mutasi rekening koran PDF e-Tax/CMS BRI, matching otomatis 1-ke-1 dan 1-ke-N dengan jurnal kas, serta pelaporan berita acara selisih.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51960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4. Aging AR/AP &amp; Aset Tetap Terintegrasi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Pelacakan umur piutang/hutang dengan Smart Settlement M:N, kalkulasi depresiasi aset otomatis (Garis Lurus &amp; Saldo Menurun), cetak Barcode/QR Code, dan verifikasi fisik.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DIMENSI 2: WHY (NILAI URGENSI BISNIS)</a:t>
            </a:r>
          </a:p>
          <a:p>
            <a:pPr>
              <a:defRPr sz="2300" b="1">
                <a:solidFill>
                  <a:srgbClr val="1E293B"/>
                </a:solidFill>
                <a:latin typeface="Segoe UI"/>
              </a:defRPr>
            </a:pPr>
            <a:r>
              <a:t>WHY: Mengapa ArtaLedger Sangat Dibutuhkan Korporasi?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  <a:latin typeface="Segoe UI"/>
              </a:defRPr>
            </a:pPr>
            <a:r>
              <a:t>Human Error &amp; Jurnal Selisih</a:t>
            </a:r>
          </a:p>
          <a:p>
            <a:pPr>
              <a:spcAft>
                <a:spcPts val="300"/>
              </a:spcAft>
              <a:defRPr sz="1100">
                <a:solidFill>
                  <a:srgbClr val="EF4444"/>
                </a:solidFill>
                <a:latin typeface="Segoe UI"/>
              </a:defRPr>
            </a:pPr>
            <a:r>
              <a:t>❌ Masalah: Pencatatan manual sering memicu selisih debit-kredit dan salah akun.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✅ Solusi: Strict Balancing Rule (|Δ| &lt; 0.01) &amp; blokir posting akun Header.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92024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  <a:latin typeface="Segoe UI"/>
              </a:defRPr>
            </a:pPr>
            <a:r>
              <a:t>Kertas Kerja Tidak Cocok dengan Auditor</a:t>
            </a:r>
          </a:p>
          <a:p>
            <a:pPr>
              <a:spcAft>
                <a:spcPts val="300"/>
              </a:spcAft>
              <a:defRPr sz="1100">
                <a:solidFill>
                  <a:srgbClr val="EF4444"/>
                </a:solidFill>
                <a:latin typeface="Segoe UI"/>
              </a:defRPr>
            </a:pPr>
            <a:r>
              <a:t>❌ Masalah: Neraca lajur software umum formatnya melompat dan tidak standar.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✅ Solusi: Strict Normal Balance Placement: Sinkron 100% lembar kerja Excel auditor.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  <a:latin typeface="Segoe UI"/>
              </a:defRPr>
            </a:pPr>
            <a:r>
              <a:t>Rekonsiliasi Bank Memakan Waktu Berhari-hari</a:t>
            </a:r>
          </a:p>
          <a:p>
            <a:pPr>
              <a:spcAft>
                <a:spcPts val="300"/>
              </a:spcAft>
              <a:defRPr sz="1100">
                <a:solidFill>
                  <a:srgbClr val="EF4444"/>
                </a:solidFill>
                <a:latin typeface="Segoe UI"/>
              </a:defRPr>
            </a:pPr>
            <a:r>
              <a:t>❌ Masalah: Pencocokan rekening koran manual sangat lambat setiap akhir bulan.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✅ Solusi: Auto-Parser BRI CMS: Ekstraksi otomatis data PDF &amp; auto-matching.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23360"/>
            <a:ext cx="525780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4206240"/>
            <a:ext cx="4709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50" b="1">
                <a:solidFill>
                  <a:srgbClr val="1E293B"/>
                </a:solidFill>
                <a:latin typeface="Segoe UI"/>
              </a:defRPr>
            </a:pPr>
            <a:r>
              <a:t>Risiko Fraud &amp; Manipulasi Periode Lalu</a:t>
            </a:r>
          </a:p>
          <a:p>
            <a:pPr>
              <a:spcAft>
                <a:spcPts val="300"/>
              </a:spcAft>
              <a:defRPr sz="1100">
                <a:solidFill>
                  <a:srgbClr val="EF4444"/>
                </a:solidFill>
                <a:latin typeface="Segoe UI"/>
              </a:defRPr>
            </a:pPr>
            <a:r>
              <a:t>❌ Masalah: Transaksi periode lalu masih dapat diubah tanpa jejak pengawasan.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✅ Solusi: Period Locking &amp; Audit Trail: Penguncian resmi &amp; izin sandi Super Admin.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DIMENSI 3: WHO (STAKEHOLDERS MATRIX)</a:t>
            </a:r>
          </a:p>
          <a:p>
            <a:pPr>
              <a:defRPr sz="2300" b="1">
                <a:solidFill>
                  <a:srgbClr val="1E293B"/>
                </a:solidFill>
                <a:latin typeface="Segoe UI"/>
              </a:defRPr>
            </a:pPr>
            <a:r>
              <a:t>WHO: Siapa Pemangku Kepentingan &amp; Manfaat yang Didapat?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PERAN 01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Direksi &amp; C-Level (CEO/CFO)</a:t>
            </a:r>
          </a:p>
          <a:p>
            <a:pPr>
              <a:spcAft>
                <a:spcPts val="800"/>
              </a:spcAft>
              <a:defRPr sz="1100" b="1">
                <a:solidFill>
                  <a:srgbClr val="10B981"/>
                </a:solidFill>
                <a:latin typeface="Segoe UI"/>
              </a:defRPr>
            </a:pPr>
            <a:r>
              <a:t>Kontrol Finansial Real-Time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Mendapatkan visibilitas menyeluruh melalui 12 KPI eksekutif, grafik tren ApexCharts 12 bulan, dan kontrol transaksi bernilai signifikan tanpa menunggu laporan bulanan akuntan.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6366F1"/>
                </a:solidFill>
                <a:latin typeface="Segoe UI"/>
              </a:defRPr>
            </a:pPr>
            <a:r>
              <a:t>PERAN 02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Tim Finansial &amp; Akuntan</a:t>
            </a:r>
          </a:p>
          <a:p>
            <a:pPr>
              <a:spcAft>
                <a:spcPts val="8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Efisiensi 80% &amp; Kesiapan Audit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Eliminasi salah posting jurnal, kemudahan rekonsiliasi mutasi bank otomatis, serta format neraca lajur yang sinkron 100% dengan lembar kerja auditor independen.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37360"/>
            <a:ext cx="34747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01168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59E0B"/>
                </a:solidFill>
                <a:latin typeface="Segoe UI"/>
              </a:defRPr>
            </a:pPr>
            <a:r>
              <a:t>PERAN 03</a:t>
            </a:r>
          </a:p>
          <a:p>
            <a:pPr>
              <a:spcAft>
                <a:spcPts val="200"/>
              </a:spcAft>
              <a:defRPr sz="1400" b="1">
                <a:solidFill>
                  <a:srgbClr val="1E293B"/>
                </a:solidFill>
                <a:latin typeface="Segoe UI"/>
              </a:defRPr>
            </a:pPr>
            <a:r>
              <a:t>Tim IT &amp; Administrator Sistem</a:t>
            </a:r>
          </a:p>
          <a:p>
            <a:pPr>
              <a:spcAft>
                <a:spcPts val="800"/>
              </a:spcAft>
              <a:defRPr sz="1100" b="1">
                <a:solidFill>
                  <a:srgbClr val="F59E0B"/>
                </a:solidFill>
                <a:latin typeface="Segoe UI"/>
              </a:defRPr>
            </a:pPr>
            <a:r>
              <a:t>Keamanan, Stabilitas &amp; Audit Log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Platform modern berbasis Laravel 12 &amp; Livewire 3 yang modular, proteksi Spatie RBAC bertingkat, kepatuhan ACID, dan 201 pengujian otomatis Pest PHP (100% Passed).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DIMENSI 4 &amp; 5: WHERE &amp; WHEN</a:t>
            </a:r>
          </a:p>
          <a:p>
            <a:pPr>
              <a:defRPr sz="2300" b="1">
                <a:solidFill>
                  <a:srgbClr val="1E293B"/>
                </a:solidFill>
                <a:latin typeface="Segoe UI"/>
              </a:defRPr>
            </a:pPr>
            <a:r>
              <a:t>WHERE &amp; WHEN: Lingkup Operasional &amp; Roadmap Strategis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9319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65960"/>
            <a:ext cx="3474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366F1"/>
                </a:solidFill>
                <a:latin typeface="Segoe UI"/>
              </a:defRPr>
            </a:pPr>
            <a:r>
              <a:t>WHERE: LINGKUP OPERASIONAL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Kantor Pusat (KP): Konsolidasi laporan keuangan, kontrol bagan akun (COA terpusat), dan kebijakan saldo awal.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Unit Usaha &amp; Cabang: Pencatatan mutasi transaksi kas, operasional klinik/rumah sakit, dan verifikasi aset lokal.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Auditor &amp; Remote Akses: Akses read-only laporan keuangan dan neraca lajur melalui jalur aman.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Infrastruktur Multi-Cloud: Dapat dihosting pada Server On-Premise maupun Cloud VPS (AWS, DigitalOcean, Alibaba).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737360"/>
            <a:ext cx="64922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66360" y="1965960"/>
            <a:ext cx="60350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WHEN: ROADMAP PENGEMBANGAN 2026 - 2027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Current State (2026): 🟢 Fondasi Core GL, Neraca Lajur, P&amp;L, Cash Flow, BRI Parser, Aging AR/AP, dan Aset Tetap siap produksi.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Fase 1 (Q4 2026): Siklus Bisnis Penjualan &amp; Pembelian (Sales Invoicing &amp; PO) terhubung otomatis GL serta Otomasi Pajak PPN/PPh.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Fase 2 (Q1 2027): Manajemen Stok Multi-Gudang (FIFO &amp; Moving Average) dan Ekspansi Parser Multi-Bank (BCA, Mandiri, BNI).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Fase 3 (Q2 2027): Kontrol Anggaran (Budgeting vs Actual) dengan Overbudget Guard dan RESTful API terintegrasi POS/E-Commerce.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Segoe UI"/>
              </a:defRPr>
            </a:pPr>
            <a:r>
              <a:t>• Fase 4 (Q3 2027): Transformasi Cloud SaaS Multi-Tenancy dan Smart AI OCR Reader kuitansi otomatis.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6366F1"/>
                </a:solidFill>
                <a:latin typeface="Segoe UI"/>
              </a:defRPr>
            </a:pPr>
            <a:r>
              <a:t>DIMENSI 6: HOW (MEKANISME KERJA &amp; JAMINAN MUTU)</a:t>
            </a:r>
          </a:p>
          <a:p>
            <a:pPr>
              <a:defRPr sz="2300" b="1">
                <a:solidFill>
                  <a:srgbClr val="1E293B"/>
                </a:solidFill>
                <a:latin typeface="Segoe UI"/>
              </a:defRPr>
            </a:pPr>
            <a:r>
              <a:t>HOW: Bagaimana ArtaLedger Bekerja &amp; Menjamin Kualitas?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PILAR 01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1. ACID Database Transactions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Setiap transaksi posting dibungkus dalam blok transaksi database ACID dengan tipe data DECIMAL(15,2). Jika terjadi kegagalan sistem, seluruh data dibatalkan secara bersih (Automatic Rollback).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73736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  <a:latin typeface="Segoe UI"/>
              </a:defRPr>
            </a:pPr>
            <a:r>
              <a:t>PILAR 02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2. Validasi Balancing Real-Time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Mekanisme validasi ketat memastikan selisih mutlak antara total debit dan kredit tidak melebihi |Δ| &lt; 0.01, serta memblokir posting langsung ke akun berstatus Header.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3736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59E0B"/>
                </a:solidFill>
                <a:latin typeface="Segoe UI"/>
              </a:defRPr>
            </a:pPr>
            <a:r>
              <a:t>PILAR 03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3. 201 Automated Tests (Pest PHP)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Keandalan sistem terbukti dengan 201 pengujian otomatis unit &amp; integrasi dengan tingkat kelulusan 100% (749 asersi, 0 gagal), menjamin tidak ada fitur yang retak saat penambahan modul baru.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73736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0" y="2011680"/>
            <a:ext cx="2103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6366F1"/>
                </a:solidFill>
                <a:latin typeface="Segoe UI"/>
              </a:defRPr>
            </a:pPr>
            <a:r>
              <a:t>PILAR 04</a:t>
            </a:r>
          </a:p>
          <a:p>
            <a:pPr>
              <a:spcAft>
                <a:spcPts val="800"/>
              </a:spcAft>
              <a:defRPr sz="1300" b="1">
                <a:solidFill>
                  <a:srgbClr val="1E293B"/>
                </a:solidFill>
                <a:latin typeface="Segoe UI"/>
              </a:defRPr>
            </a:pPr>
            <a:r>
              <a:t>4. Standar Kode Bersih &amp; DAG Sync</a:t>
            </a:r>
          </a:p>
          <a:p>
            <a:pPr>
              <a:defRPr sz="1050">
                <a:solidFill>
                  <a:srgbClr val="475569"/>
                </a:solidFill>
                <a:latin typeface="Segoe UI"/>
              </a:defRPr>
            </a:pPr>
            <a:r>
              <a:t>Seluruh kode mematuhi konvensi PSR-12 melalui Laravel Pint (0 violations), serta diagram arsitektur sistem selalu disinkronkan secara ketat pada KNOWLEDGE_GRAPH.md.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6366F1"/>
                </a:solidFill>
                <a:latin typeface="Segoe UI"/>
              </a:defRPr>
            </a:pPr>
            <a:r>
              <a:t>KESIMPULAN 5W + 1H</a:t>
            </a:r>
          </a:p>
          <a:p>
            <a:pPr>
              <a:defRPr sz="2600" b="1">
                <a:solidFill>
                  <a:srgbClr val="FFFFFF"/>
                </a:solidFill>
                <a:latin typeface="Segoe UI"/>
              </a:defRPr>
            </a:pPr>
            <a:r>
              <a:t>ArtaLedger: Investasi Terukur Transformasi Finansial Korporat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03120"/>
            <a:ext cx="34747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10B981"/>
                </a:solidFill>
                <a:latin typeface="Segoe UI"/>
              </a:defRPr>
            </a:pPr>
            <a:r>
              <a:t>NILAI STRATEGIS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Akuntabilitas Teruji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Kepatuhan penuh standar PSAK, format neraca lajur yang diakui auditor eksternal, dan audit trail mutasi tak terbantahkan.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2103120"/>
            <a:ext cx="34747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23317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6366F1"/>
                </a:solidFill>
                <a:latin typeface="Segoe UI"/>
              </a:defRPr>
            </a:pPr>
            <a:r>
              <a:t>NILAI STRATEGIS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Efisiensi Operasional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Otomasi rekonsiliasi mutasi bank, penjadwalan depresiasi aset fisik, dan percepatan penyajian laporan keuangan akhir bulan.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2103120"/>
            <a:ext cx="3474720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33172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F59E0B"/>
                </a:solidFill>
                <a:latin typeface="Segoe UI"/>
              </a:defRPr>
            </a:pPr>
            <a:r>
              <a:t>NILAI STRATEGIS</a:t>
            </a:r>
          </a:p>
          <a:p>
            <a:pPr>
              <a:spcAft>
                <a:spcPts val="1000"/>
              </a:spcAft>
              <a:defRPr sz="1500" b="1">
                <a:solidFill>
                  <a:srgbClr val="FFFFFF"/>
                </a:solidFill>
                <a:latin typeface="Segoe UI"/>
              </a:defRPr>
            </a:pPr>
            <a:r>
              <a:t>Kesiapan Masa Depan</a:t>
            </a:r>
          </a:p>
          <a:p>
            <a:pPr>
              <a:defRPr sz="1150">
                <a:solidFill>
                  <a:srgbClr val="94A3B8"/>
                </a:solidFill>
                <a:latin typeface="Segoe UI"/>
              </a:defRPr>
            </a:pPr>
            <a:r>
              <a:t>Fondasi modern yang siap bertransformasi menjadi Ekosistem ERP Bisnis Lengkap dan Cloud SaaS Multi-Tenancy pada 2027.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